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7" r:id="rId8"/>
    <p:sldId id="263" r:id="rId9"/>
    <p:sldId id="264" r:id="rId10"/>
    <p:sldId id="265" r:id="rId11"/>
    <p:sldId id="266" r:id="rId12"/>
    <p:sldId id="26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6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5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8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45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14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61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21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30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2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38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37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53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6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uman brain nerve cells">
            <a:extLst>
              <a:ext uri="{FF2B5EF4-FFF2-40B4-BE49-F238E27FC236}">
                <a16:creationId xmlns:a16="http://schemas.microsoft.com/office/drawing/2014/main" id="{3B5D602B-A051-4AF7-A490-B219CE471E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2500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50000">
                <a:schemeClr val="tx2">
                  <a:alpha val="35000"/>
                </a:schemeClr>
              </a:gs>
              <a:gs pos="100000">
                <a:schemeClr val="tx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8C806-A23F-4819-85B0-D0782FFB9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05059" cy="33303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Multi – modal GLIOMA SEGMENTION AND CLASSIFICATION COUPLED WITH NLP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F34D4-3819-40A1-BE9F-9B0698BDA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133135"/>
            <a:ext cx="10902016" cy="1454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</a:rPr>
              <a:t>JERMAINE SAMUELS</a:t>
            </a:r>
          </a:p>
        </p:txBody>
      </p:sp>
      <p:cxnSp>
        <p:nvCxnSpPr>
          <p:cNvPr id="36" name="Straight Connector 30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77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8DD2392-397B-48BF-BEFA-EA1FB881C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Stack of magazines on table">
            <a:extLst>
              <a:ext uri="{FF2B5EF4-FFF2-40B4-BE49-F238E27FC236}">
                <a16:creationId xmlns:a16="http://schemas.microsoft.com/office/drawing/2014/main" id="{65235254-F742-419C-B314-B726899206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 t="7865" b="786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F2FB7D-66FA-4554-9226-849F47E9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870" y="702156"/>
            <a:ext cx="10144260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0" kern="1200" cap="all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12DFE-D393-4E9C-AECC-A755ED7A027E}"/>
              </a:ext>
            </a:extLst>
          </p:cNvPr>
          <p:cNvSpPr txBox="1"/>
          <p:nvPr/>
        </p:nvSpPr>
        <p:spPr>
          <a:xfrm>
            <a:off x="906528" y="2628171"/>
            <a:ext cx="10261602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 time prediction of glioma type and Segment using Machine Learning on MRI scans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Faster Time to provide Diagnosis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Less Invasive approach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Effective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Process Automation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Type Agnostic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Capability to detect glioma from any plane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334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B22CE-61A9-4C85-931B-A8B01513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 err="1">
                <a:solidFill>
                  <a:schemeClr val="accent1"/>
                </a:solidFill>
              </a:rPr>
              <a:t>oBJECTIVE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FC49C-E211-4217-AACA-7AD32B1DB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r>
              <a:rPr lang="en-US" sz="2000" dirty="0"/>
              <a:t>To detect gliomas as segmented images and classify them as high-grade or low-grade glioma on 2D </a:t>
            </a:r>
            <a:r>
              <a:rPr lang="en-US" sz="2000" dirty="0" err="1"/>
              <a:t>mri</a:t>
            </a:r>
            <a:r>
              <a:rPr lang="en-US" sz="2000" dirty="0"/>
              <a:t> images and to investigate how segmentation may be improved by analysis of expert words referencing key features of gliomas. </a:t>
            </a:r>
          </a:p>
        </p:txBody>
      </p:sp>
    </p:spTree>
    <p:extLst>
      <p:ext uri="{BB962C8B-B14F-4D97-AF65-F5344CB8AC3E}">
        <p14:creationId xmlns:p14="http://schemas.microsoft.com/office/powerpoint/2010/main" val="2005902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EE649-1108-481A-9D0B-FB6C888F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00" y="434087"/>
            <a:ext cx="3511233" cy="17473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Procedure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8501DADA-81D5-4777-BA4C-4EE754D11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35" r="-1" b="-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AE01B-4EA8-4205-96A3-4BEB3B3EA120}"/>
              </a:ext>
            </a:extLst>
          </p:cNvPr>
          <p:cNvSpPr txBox="1"/>
          <p:nvPr/>
        </p:nvSpPr>
        <p:spPr>
          <a:xfrm>
            <a:off x="-69634" y="2346479"/>
            <a:ext cx="49177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Image conversion from </a:t>
            </a:r>
            <a:r>
              <a:rPr lang="en-US" sz="2400" dirty="0" err="1"/>
              <a:t>nii</a:t>
            </a:r>
            <a:r>
              <a:rPr lang="en-US" sz="2400" dirty="0"/>
              <a:t> to </a:t>
            </a:r>
            <a:r>
              <a:rPr lang="en-US" sz="2400" dirty="0" err="1"/>
              <a:t>png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Classification – via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Segmentation – via </a:t>
            </a:r>
            <a:r>
              <a:rPr lang="en-US" sz="2400" dirty="0" err="1"/>
              <a:t>unet</a:t>
            </a:r>
            <a:r>
              <a:rPr lang="en-US" sz="2400" dirty="0"/>
              <a:t> 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Expert Analysis – via 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Test on Client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9883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E5CD3-CEF2-4ECB-A5DC-4525F8378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Tool description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B878F94-F51C-441D-A959-1CE302449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10679642" cy="3634486"/>
          </a:xfrm>
        </p:spPr>
        <p:txBody>
          <a:bodyPr>
            <a:normAutofit/>
          </a:bodyPr>
          <a:lstStyle/>
          <a:p>
            <a:r>
              <a:rPr lang="en-US" sz="2400" dirty="0"/>
              <a:t>Ability to upload multiple images</a:t>
            </a:r>
          </a:p>
          <a:p>
            <a:r>
              <a:rPr lang="en-US" sz="2400" dirty="0"/>
              <a:t>Image with greatest predicted segment will populate first</a:t>
            </a:r>
          </a:p>
          <a:p>
            <a:r>
              <a:rPr lang="en-US" sz="2400" dirty="0"/>
              <a:t>Cross reference expert segments with prediction for calibration</a:t>
            </a:r>
          </a:p>
          <a:p>
            <a:r>
              <a:rPr lang="en-US" sz="2400" dirty="0"/>
              <a:t>Ability to host tool on a server</a:t>
            </a:r>
          </a:p>
          <a:p>
            <a:r>
              <a:rPr lang="en-US" sz="2400" dirty="0"/>
              <a:t>Dashboard will be able to accommodate reports</a:t>
            </a:r>
          </a:p>
          <a:p>
            <a:r>
              <a:rPr lang="en-US" sz="2400" dirty="0"/>
              <a:t>Facilitate Reports</a:t>
            </a:r>
          </a:p>
        </p:txBody>
      </p:sp>
    </p:spTree>
    <p:extLst>
      <p:ext uri="{BB962C8B-B14F-4D97-AF65-F5344CB8AC3E}">
        <p14:creationId xmlns:p14="http://schemas.microsoft.com/office/powerpoint/2010/main" val="63822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52F1A-B2FB-43B5-AA6F-397F1768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1020431"/>
            <a:ext cx="10993549" cy="14750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Classification AND SEGMENTATION on validation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06F17-AF21-4360-A605-A646E932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495445"/>
            <a:ext cx="10993546" cy="468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cap="all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Abacus with solid fill">
            <a:extLst>
              <a:ext uri="{FF2B5EF4-FFF2-40B4-BE49-F238E27FC236}">
                <a16:creationId xmlns:a16="http://schemas.microsoft.com/office/drawing/2014/main" id="{EADEC1A2-DE29-4583-B069-AEFB1013D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364" y="2919216"/>
            <a:ext cx="3310466" cy="3310466"/>
          </a:xfrm>
          <a:prstGeom prst="rect">
            <a:avLst/>
          </a:prstGeom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FBC95D6-6E6B-44A8-B698-1CA87D5C4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06951"/>
              </p:ext>
            </p:extLst>
          </p:nvPr>
        </p:nvGraphicFramePr>
        <p:xfrm>
          <a:off x="5201949" y="3081867"/>
          <a:ext cx="5486401" cy="298516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{1FECB4D8-DB02-4DC6-A0A2-4F2EBAE1DC90}</a:tableStyleId>
              </a:tblPr>
              <a:tblGrid>
                <a:gridCol w="1313926">
                  <a:extLst>
                    <a:ext uri="{9D8B030D-6E8A-4147-A177-3AD203B41FA5}">
                      <a16:colId xmlns:a16="http://schemas.microsoft.com/office/drawing/2014/main" val="3149868788"/>
                    </a:ext>
                  </a:extLst>
                </a:gridCol>
                <a:gridCol w="2073045">
                  <a:extLst>
                    <a:ext uri="{9D8B030D-6E8A-4147-A177-3AD203B41FA5}">
                      <a16:colId xmlns:a16="http://schemas.microsoft.com/office/drawing/2014/main" val="1092486326"/>
                    </a:ext>
                  </a:extLst>
                </a:gridCol>
                <a:gridCol w="2099430">
                  <a:extLst>
                    <a:ext uri="{9D8B030D-6E8A-4147-A177-3AD203B41FA5}">
                      <a16:colId xmlns:a16="http://schemas.microsoft.com/office/drawing/2014/main" val="1678911706"/>
                    </a:ext>
                  </a:extLst>
                </a:gridCol>
              </a:tblGrid>
              <a:tr h="557283"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81839" marR="139686" marT="23382" marB="17536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 dirty="0">
                          <a:solidFill>
                            <a:schemeClr val="tx1"/>
                          </a:solidFill>
                        </a:rPr>
                        <a:t>Classification</a:t>
                      </a:r>
                    </a:p>
                  </a:txBody>
                  <a:tcPr marL="81839" marR="139686" marT="23382" marB="1753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</a:rPr>
                        <a:t>Segmentation</a:t>
                      </a:r>
                    </a:p>
                  </a:txBody>
                  <a:tcPr marL="81839" marR="139686" marT="23382" marB="17536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078694"/>
                  </a:ext>
                </a:extLst>
              </a:tr>
              <a:tr h="479341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81839" marR="139686" marT="23382" marB="17536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60%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98%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33660"/>
                  </a:ext>
                </a:extLst>
              </a:tr>
              <a:tr h="479341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Dice Score</a:t>
                      </a:r>
                    </a:p>
                  </a:txBody>
                  <a:tcPr marL="81839" marR="139686" marT="23382" marB="17536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40%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508200"/>
                  </a:ext>
                </a:extLst>
              </a:tr>
              <a:tr h="479341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Specificity</a:t>
                      </a:r>
                    </a:p>
                  </a:txBody>
                  <a:tcPr marL="81839" marR="139686" marT="23382" marB="17536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98%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90383"/>
                  </a:ext>
                </a:extLst>
              </a:tr>
              <a:tr h="479341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Sensitivity</a:t>
                      </a:r>
                    </a:p>
                  </a:txBody>
                  <a:tcPr marL="81839" marR="139686" marT="23382" marB="17536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45%</a:t>
                      </a: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534307"/>
                  </a:ext>
                </a:extLst>
              </a:tr>
              <a:tr h="510518">
                <a:tc>
                  <a:txBody>
                    <a:bodyPr/>
                    <a:lstStyle/>
                    <a:p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839" marR="139686" marT="23382" marB="175369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1839" marR="139686" marT="23382" marB="1753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25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06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A77D-72A1-4D66-AA4C-796F33E39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36342"/>
            <a:ext cx="11029616" cy="754534"/>
          </a:xfrm>
        </p:spPr>
        <p:txBody>
          <a:bodyPr/>
          <a:lstStyle/>
          <a:p>
            <a:r>
              <a:rPr lang="en-US" dirty="0"/>
              <a:t>Test Images provided by </a:t>
            </a:r>
            <a:r>
              <a:rPr lang="en-US" dirty="0" err="1"/>
              <a:t>uwi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406DF4A-55F0-42CD-B2CB-B8FF8E270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800169"/>
              </p:ext>
            </p:extLst>
          </p:nvPr>
        </p:nvGraphicFramePr>
        <p:xfrm>
          <a:off x="1269505" y="2636908"/>
          <a:ext cx="8636955" cy="9094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78985">
                  <a:extLst>
                    <a:ext uri="{9D8B030D-6E8A-4147-A177-3AD203B41FA5}">
                      <a16:colId xmlns:a16="http://schemas.microsoft.com/office/drawing/2014/main" val="939387460"/>
                    </a:ext>
                  </a:extLst>
                </a:gridCol>
                <a:gridCol w="2878985">
                  <a:extLst>
                    <a:ext uri="{9D8B030D-6E8A-4147-A177-3AD203B41FA5}">
                      <a16:colId xmlns:a16="http://schemas.microsoft.com/office/drawing/2014/main" val="980259972"/>
                    </a:ext>
                  </a:extLst>
                </a:gridCol>
                <a:gridCol w="2878985">
                  <a:extLst>
                    <a:ext uri="{9D8B030D-6E8A-4147-A177-3AD203B41FA5}">
                      <a16:colId xmlns:a16="http://schemas.microsoft.com/office/drawing/2014/main" val="3150848519"/>
                    </a:ext>
                  </a:extLst>
                </a:gridCol>
              </a:tblGrid>
              <a:tr h="172342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189922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167533"/>
                  </a:ext>
                </a:extLst>
              </a:tr>
            </a:tbl>
          </a:graphicData>
        </a:graphic>
      </p:graphicFrame>
      <p:pic>
        <p:nvPicPr>
          <p:cNvPr id="6" name="Graphic 5" descr="Calculator with solid fill">
            <a:extLst>
              <a:ext uri="{FF2B5EF4-FFF2-40B4-BE49-F238E27FC236}">
                <a16:creationId xmlns:a16="http://schemas.microsoft.com/office/drawing/2014/main" id="{B8322709-D1BE-4417-92D1-7C8FB0F53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6408" y="5576194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E6484F-3B80-47C2-A7B3-13E2AF1B0855}"/>
              </a:ext>
            </a:extLst>
          </p:cNvPr>
          <p:cNvSpPr txBox="1"/>
          <p:nvPr/>
        </p:nvSpPr>
        <p:spPr>
          <a:xfrm>
            <a:off x="1544203" y="3916817"/>
            <a:ext cx="8265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Only high-grade Glioma Images were provided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25 % of data was used to build models</a:t>
            </a:r>
          </a:p>
        </p:txBody>
      </p:sp>
    </p:spTree>
    <p:extLst>
      <p:ext uri="{BB962C8B-B14F-4D97-AF65-F5344CB8AC3E}">
        <p14:creationId xmlns:p14="http://schemas.microsoft.com/office/powerpoint/2010/main" val="28326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8DD2392-397B-48BF-BEFA-EA1FB881C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row of samples for medical testing">
            <a:extLst>
              <a:ext uri="{FF2B5EF4-FFF2-40B4-BE49-F238E27FC236}">
                <a16:creationId xmlns:a16="http://schemas.microsoft.com/office/drawing/2014/main" id="{B721073A-8987-481F-9A38-CC5395431E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25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8B1E2B-5347-4781-86C5-C8A4E83E5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0" y="273531"/>
            <a:ext cx="10144260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NLP ANALYSIS (corpus related to glioma over the past 10 years (2010 – 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1B593-2908-48C1-BD76-2DF8900F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70" y="1953054"/>
            <a:ext cx="10261602" cy="394178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Key word Extraction excluding Necrotic Core, Edema and Enhancing Tumor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Endothelial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Glioma Stem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Vessel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Endothelial cells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Stem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Glioma Stem cell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Blood vessel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Stem cell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Vascular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blood</a:t>
            </a:r>
          </a:p>
          <a:p>
            <a:pPr lvl="1">
              <a:lnSpc>
                <a:spcPct val="100000"/>
              </a:lnSpc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45537-EFFD-4A75-AC87-E38350B38CD5}"/>
              </a:ext>
            </a:extLst>
          </p:cNvPr>
          <p:cNvSpPr txBox="1"/>
          <p:nvPr/>
        </p:nvSpPr>
        <p:spPr>
          <a:xfrm>
            <a:off x="601728" y="5822423"/>
            <a:ext cx="10261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Possible feature to add to segmentation is aberrant blood vessel formation</a:t>
            </a:r>
          </a:p>
        </p:txBody>
      </p:sp>
    </p:spTree>
    <p:extLst>
      <p:ext uri="{BB962C8B-B14F-4D97-AF65-F5344CB8AC3E}">
        <p14:creationId xmlns:p14="http://schemas.microsoft.com/office/powerpoint/2010/main" val="3085646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art, bar chart, histogram&#10;&#10;Description automatically generated">
            <a:extLst>
              <a:ext uri="{FF2B5EF4-FFF2-40B4-BE49-F238E27FC236}">
                <a16:creationId xmlns:a16="http://schemas.microsoft.com/office/drawing/2014/main" id="{A7B64431-A438-4D1F-A8CD-3384A5A9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32" y="550649"/>
            <a:ext cx="5964011" cy="3650860"/>
          </a:xfrm>
          <a:prstGeom prst="rect">
            <a:avLst/>
          </a:prstGeom>
        </p:spPr>
      </p:pic>
      <p:pic>
        <p:nvPicPr>
          <p:cNvPr id="5" name="Picture 4" descr="Chart, bar chart, histogram&#10;&#10;Description automatically generated">
            <a:extLst>
              <a:ext uri="{FF2B5EF4-FFF2-40B4-BE49-F238E27FC236}">
                <a16:creationId xmlns:a16="http://schemas.microsoft.com/office/drawing/2014/main" id="{EFA60B4D-F25F-4592-9A44-53B9A4563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94" y="467436"/>
            <a:ext cx="5796037" cy="366102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695E25C-06E7-4082-BE92-B571B616B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297735"/>
            <a:ext cx="11265408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4BD7DF-F4BB-427F-B4F6-6DC83A59A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60AA7-58B0-4076-BEB8-16131FF8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72000"/>
            <a:ext cx="10965141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</a:rPr>
              <a:t>UNIGRAM and Bigram - </a:t>
            </a:r>
            <a:r>
              <a:rPr lang="en-US" sz="2800" dirty="0" err="1">
                <a:solidFill>
                  <a:srgbClr val="FFFFFF"/>
                </a:solidFill>
              </a:rPr>
              <a:t>Nlp</a:t>
            </a:r>
            <a:r>
              <a:rPr lang="en-US" sz="2800" dirty="0">
                <a:solidFill>
                  <a:srgbClr val="FFFFFF"/>
                </a:solidFill>
              </a:rPr>
              <a:t> Analysis Continued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5E9C3-084D-4790-A888-3FCFC25216CF}"/>
              </a:ext>
            </a:extLst>
          </p:cNvPr>
          <p:cNvSpPr txBox="1"/>
          <p:nvPr/>
        </p:nvSpPr>
        <p:spPr>
          <a:xfrm>
            <a:off x="1508556" y="161343"/>
            <a:ext cx="370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Unigram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113D48-9150-43FD-A23A-4C315658CD3E}"/>
              </a:ext>
            </a:extLst>
          </p:cNvPr>
          <p:cNvSpPr txBox="1"/>
          <p:nvPr/>
        </p:nvSpPr>
        <p:spPr>
          <a:xfrm>
            <a:off x="7056348" y="161343"/>
            <a:ext cx="370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Bigram</a:t>
            </a:r>
          </a:p>
        </p:txBody>
      </p:sp>
    </p:spTree>
    <p:extLst>
      <p:ext uri="{BB962C8B-B14F-4D97-AF65-F5344CB8AC3E}">
        <p14:creationId xmlns:p14="http://schemas.microsoft.com/office/powerpoint/2010/main" val="3481915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09457-F583-49E3-9AAF-11F493C8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NLP Analysis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25A1E-5145-4AA2-90A1-BC2CAFB06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400" dirty="0"/>
              <a:t>The Tool will display Unigram, Bigram frequency and frequency of experts referencing the word necrotic core, edema and enhancing tumor over the pass 10 years (2010 – 2020) as a reporting feature of the dashboard</a:t>
            </a:r>
          </a:p>
        </p:txBody>
      </p:sp>
    </p:spTree>
    <p:extLst>
      <p:ext uri="{BB962C8B-B14F-4D97-AF65-F5344CB8AC3E}">
        <p14:creationId xmlns:p14="http://schemas.microsoft.com/office/powerpoint/2010/main" val="422318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A43B05A4-157F-403C-939A-ED1B6A0A0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38B97F-CC13-4E2E-95F0-77643A37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tx1">
                    <a:lumMod val="85000"/>
                    <a:lumOff val="15000"/>
                  </a:schemeClr>
                </a:solidFill>
              </a:rPr>
              <a:t>Tool deliverables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E8CCE107-A70B-4916-9A0B-751C70B9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9A925BC7-7CC5-4A0C-9B3D-8829EBF2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4244340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D16A-B2EB-441D-AFD2-C692D522B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1743" y="1507415"/>
            <a:ext cx="4819091" cy="3903331"/>
          </a:xfrm>
          <a:ln w="57150">
            <a:noFill/>
          </a:ln>
        </p:spPr>
        <p:txBody>
          <a:bodyPr anchor="t">
            <a:normAutofit/>
          </a:bodyPr>
          <a:lstStyle/>
          <a:p>
            <a:r>
              <a:rPr lang="en-US" sz="2000"/>
              <a:t>Dashboard for segmenting and classifying images</a:t>
            </a:r>
          </a:p>
          <a:p>
            <a:r>
              <a:rPr lang="en-US" sz="2000"/>
              <a:t>Ability to download classification results as a csv file</a:t>
            </a:r>
          </a:p>
          <a:p>
            <a:r>
              <a:rPr lang="en-US" sz="2000"/>
              <a:t>Report on NLP Analysis (Expert words within the last 10 year)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6E67D916-28C7-4965-BA3C-287FB857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392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FACDC-9942-4A9E-A698-29E9F37E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Limitations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286F2-2424-49DB-B6CA-3A3F7882FCB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07559" y="2340864"/>
            <a:ext cx="6690843" cy="3793237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FFFF"/>
                </a:solidFill>
              </a:rPr>
              <a:t>Only high-grade Glioma Images were provided for testing  from the UWI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FFFF"/>
                </a:solidFill>
              </a:rPr>
              <a:t>25 % of data was used to build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FFFF"/>
                </a:solidFill>
              </a:rPr>
              <a:t>Transfer Learning may yield better results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FFFFFF"/>
                </a:solidFill>
              </a:rPr>
              <a:t>Models are independent of each other and so domain logic required for populating data on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Graphic 7" descr="Test tubes">
            <a:extLst>
              <a:ext uri="{FF2B5EF4-FFF2-40B4-BE49-F238E27FC236}">
                <a16:creationId xmlns:a16="http://schemas.microsoft.com/office/drawing/2014/main" id="{4126BC43-2F04-47EB-ACAD-6B47AD4E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07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638E-7742-4DA8-AC73-E8EB7F03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6FF40-3CCB-4375-BA3C-6F0B6C516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3679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Century School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396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Century Schoolbook</vt:lpstr>
      <vt:lpstr>Franklin Gothic Book</vt:lpstr>
      <vt:lpstr>Gill Sans MT</vt:lpstr>
      <vt:lpstr>Wingdings</vt:lpstr>
      <vt:lpstr>Wingdings 2</vt:lpstr>
      <vt:lpstr>DividendVTI</vt:lpstr>
      <vt:lpstr>Multi – modal GLIOMA SEGMENTION AND CLASSIFICATION COUPLED WITH NLP ANALYSIS</vt:lpstr>
      <vt:lpstr>Introduction</vt:lpstr>
      <vt:lpstr>oBJECTIVE</vt:lpstr>
      <vt:lpstr>Procedure</vt:lpstr>
      <vt:lpstr>Tool description</vt:lpstr>
      <vt:lpstr>Classification AND SEGMENTATION on validation data</vt:lpstr>
      <vt:lpstr>Test Images provided by uwi</vt:lpstr>
      <vt:lpstr>NLP ANALYSIS (corpus related to glioma over the past 10 years (2010 – 2020)</vt:lpstr>
      <vt:lpstr>UNIGRAM and Bigram - Nlp Analysis Continued</vt:lpstr>
      <vt:lpstr>NLP Analysis continued</vt:lpstr>
      <vt:lpstr>Tool deliverables</vt:lpstr>
      <vt:lpstr>Limitations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– modal GLIOMA SEGMENTION AND CLASSIFICATION COUPLED WITH NLP ANALYSIS</dc:title>
  <dc:creator>Jermaine Samuels</dc:creator>
  <cp:lastModifiedBy>Jermaine Samuels</cp:lastModifiedBy>
  <cp:revision>9</cp:revision>
  <dcterms:created xsi:type="dcterms:W3CDTF">2021-08-19T05:48:13Z</dcterms:created>
  <dcterms:modified xsi:type="dcterms:W3CDTF">2021-08-19T07:35:42Z</dcterms:modified>
</cp:coreProperties>
</file>